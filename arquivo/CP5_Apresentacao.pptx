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CHECKPOINT 5</a:t>
            </a:r>
          </a:p>
          <a:p>
            <a:pPr>
              <a:defRPr sz="2800">
                <a:solidFill>
                  <a:srgbClr val="C8102E"/>
                </a:solidFill>
                <a:latin typeface="Aptos Display"/>
              </a:defRPr>
            </a:pPr>
            <a:r>
              <a:t>Transações locais em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SQL Server + Oracle  |  COMMIT + ROLLBACK  |  3ESPH-2026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  <a:latin typeface="Aptos"/>
              </a:defRPr>
            </a:pPr>
            <a:r>
              <a:t>Prof. Dr. Angel Antonio Gonzalez Martinez  •  FIAP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O CP5 em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196596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OU TUDO ACONTECE...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...ou nenhuma alteração permanece no banco. O checkpoint avalia se o grupo consegue provar esse comportamento.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Transação local.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Caso de sucesso → COMMIT.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Caso de falha → ROLLBACK.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SQL Server e Oracle, separadamente.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ACID — o que precisamos observar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Ênfase principal: Atomicidade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23160" cy="297180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A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Atomicidade</a:t>
            </a:r>
            <a:br/>
            <a:br/>
            <a:r>
              <a:t>tudo ou nada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691640"/>
            <a:ext cx="2423160" cy="29718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C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Consistência</a:t>
            </a:r>
            <a:br/>
            <a:br/>
            <a:r>
              <a:t>estado válido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91640"/>
            <a:ext cx="2423160" cy="29718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I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Isolamento</a:t>
            </a:r>
            <a:br/>
            <a:br/>
            <a:r>
              <a:t>interferência controlada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91640"/>
            <a:ext cx="2423160" cy="29718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D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Durabilidade</a:t>
            </a:r>
            <a:br/>
            <a:br/>
            <a:r>
              <a:t>COMMIT permanece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Modelo relacional de referência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Quatro tabelas, relações simples e uma operação transacional clara</a:t>
            </a:r>
          </a:p>
        </p:txBody>
      </p:sp>
      <p:pic>
        <p:nvPicPr>
          <p:cNvPr id="6" name="Picture 5" descr="CP5_TRANSACOES_DEMO - CP5_TRANSACOES_DEMO - db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949440" cy="39615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155448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020"/>
                </a:solidFill>
                <a:latin typeface="Aptos"/>
              </a:defRPr>
            </a:pPr>
            <a:r>
              <a:t>CLIENTE 1:N CONTA</a:t>
            </a:r>
          </a:p>
          <a:p>
            <a:pPr>
              <a:spcAft>
                <a:spcPts val="1000"/>
              </a:spcAft>
              <a:defRPr sz="1500">
                <a:solidFill>
                  <a:srgbClr val="202020"/>
                </a:solidFill>
                <a:latin typeface="Aptos"/>
              </a:defRPr>
            </a:pPr>
            <a:r>
              <a:t>TIPO_CONTA 1:N CONTA</a:t>
            </a:r>
          </a:p>
          <a:p>
            <a:pPr>
              <a:spcAft>
                <a:spcPts val="1000"/>
              </a:spcAft>
              <a:defRPr sz="1500">
                <a:solidFill>
                  <a:srgbClr val="202020"/>
                </a:solidFill>
                <a:latin typeface="Aptos"/>
              </a:defRPr>
            </a:pPr>
            <a:r>
              <a:t>TRANSFERENCIA possui duas FKs para CONTA</a:t>
            </a:r>
          </a:p>
          <a:p>
            <a:pPr>
              <a:spcAft>
                <a:spcPts val="1000"/>
              </a:spcAft>
              <a:defRPr sz="1500">
                <a:solidFill>
                  <a:srgbClr val="202020"/>
                </a:solidFill>
                <a:latin typeface="Aptos"/>
              </a:defRPr>
            </a:pPr>
            <a:r>
              <a:t>origem e destino representam papéis diferentes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Fluxo da operação transacional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874519" cy="14630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1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Validar contas e saldo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395728"/>
            <a:ext cx="384048" cy="4114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920240"/>
            <a:ext cx="1874519" cy="14630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2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Debitar origem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395728"/>
            <a:ext cx="384048" cy="4114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920240"/>
            <a:ext cx="1874519" cy="14630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3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Creditar destino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395728"/>
            <a:ext cx="384048" cy="4114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1920240"/>
            <a:ext cx="1874519" cy="14630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4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Registrar transferência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2395728"/>
            <a:ext cx="384048" cy="4114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1920240"/>
            <a:ext cx="1874519" cy="14630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5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069080"/>
            <a:ext cx="6309360" cy="105156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Falha após o débito?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Exceção → ROLLBACK → saldo e histórico voltam ao estado anterior.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Caso de sucesso —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834640" cy="27432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ANTES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Origem: R$ 1.000</a:t>
            </a:r>
            <a:br/>
            <a:r>
              <a:t>Destino: R$ 500</a:t>
            </a:r>
            <a:br/>
            <a:r>
              <a:t>Total: R$ 1.500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2514600"/>
            <a:ext cx="914400" cy="59436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83480" y="1600200"/>
            <a:ext cx="2834640" cy="274320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TRANSFERIR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R$ 200</a:t>
            </a:r>
            <a:br/>
            <a:br/>
            <a:r>
              <a:t>Débito + crédito + histórico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46720" y="2514600"/>
            <a:ext cx="914400" cy="59436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600200"/>
            <a:ext cx="2240280" cy="2743200"/>
          </a:xfrm>
          <a:prstGeom prst="roundRect">
            <a:avLst/>
          </a:prstGeom>
          <a:solidFill>
            <a:srgbClr val="EAF5EE"/>
          </a:solidFill>
          <a:ln w="19050">
            <a:solidFill>
              <a:srgbClr val="2C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2C7A46"/>
                </a:solidFill>
                <a:latin typeface="Aptos"/>
              </a:defRPr>
            </a:pPr>
            <a:r>
              <a:t>DEPOIS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Origem: R$ 800</a:t>
            </a:r>
            <a:br/>
            <a:r>
              <a:t>Destino: R$ 700</a:t>
            </a:r>
            <a:br/>
            <a: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Caso de falha —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 falha deve ser deliberada e ocorrer depois de pelo menos uma alteração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96596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BEGIN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transação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331720"/>
            <a:ext cx="320040" cy="38404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196596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DÉBITO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origem 1000 → 800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331720"/>
            <a:ext cx="320040" cy="38404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1828800"/>
            <a:ext cx="1965960" cy="150876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ERRO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simulado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2331720"/>
            <a:ext cx="320040" cy="38404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19" y="1828800"/>
            <a:ext cx="1965960" cy="150876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ROLLBACK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desfaz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55480" y="2331720"/>
            <a:ext cx="320040" cy="38404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21240" y="1828800"/>
            <a:ext cx="196596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ESTADO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1000 / 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251960"/>
            <a:ext cx="9052560" cy="960120"/>
          </a:xfrm>
          <a:prstGeom prst="roundRect">
            <a:avLst/>
          </a:prstGeom>
          <a:solidFill>
            <a:srgbClr val="EAF5EE"/>
          </a:solidFill>
          <a:ln w="19050">
            <a:solidFill>
              <a:srgbClr val="2C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2C7A46"/>
                </a:solidFill>
                <a:latin typeface="Aptos"/>
              </a:defRPr>
            </a:pPr>
            <a:r>
              <a:t>PROVA DE ATOMICIDADE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Nenhum saldo parcial e nenhum registro parcial em TRANSFERENCIA podem permanecer.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SQL Server e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Mesma ideia, ambientes separados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SQL SERVER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Database própria</a:t>
            </a:r>
            <a:br/>
            <a:r>
              <a:t>Ex.: CP5_RM999999</a:t>
            </a:r>
            <a:br/>
            <a:br/>
            <a:r>
              <a:t>Não executar no master.</a:t>
            </a:r>
            <a:br/>
            <a:r>
              <a:t>BEGIN TRANSACTION / COMMIT / ROLLBACK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074920" cy="338328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ORACLE XE 21c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No XE local validado: CREATE SESSION, CREATE TABLE, CREATE SEQUENCE + quota.
S00: opcional e somente para XE local com acesso administrativo.</a:t>
            </a:r>
            <a:br/>
            <a:r>
              <a:t/>
            </a:r>
            <a:br/>
            <a:br/>
            <a: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5257800"/>
            <a:ext cx="7498079" cy="685800"/>
          </a:xfrm>
          <a:prstGeom prst="roundRect">
            <a:avLst/>
          </a:prstGeom>
          <a:solidFill>
            <a:srgbClr val="FFF6DB"/>
          </a:solidFill>
          <a:ln w="19050">
            <a:solidFill>
              <a:srgbClr val="BE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BE7400"/>
                </a:solidFill>
                <a:latin typeface="Aptos"/>
              </a:defRPr>
            </a:pPr>
            <a:r>
              <a:t>NÃO É TRANSAÇÃO DISTRIBUÍDA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SQL Server e Oracle não participam da mesma transação do CP5.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Tecnologia de acesso aos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 tecnologia não é o critério; o comportamento transacional é
Ambiente de referência recomendado: .NET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46120" cy="30175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ADO.NET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Referência usada em aula.</a:t>
            </a:r>
            <a:br/>
            <a:br/>
            <a:r>
              <a:t>Deixa conexão, BeginTransaction, Commit e Rollback explícitos.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EF CORE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Permitido.</a:t>
            </a:r>
            <a:br/>
            <a:br/>
            <a:r>
              <a:t>Pode usar BeginTransactionAsync e transação explícita.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00200"/>
            <a:ext cx="3246120" cy="3017520"/>
          </a:xfrm>
          <a:prstGeom prst="roundRect">
            <a:avLst/>
          </a:prstGeom>
          <a:solidFill>
            <a:srgbClr val="EAF5EE"/>
          </a:solidFill>
          <a:ln w="19050">
            <a:solidFill>
              <a:srgbClr val="2C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2C7A46"/>
                </a:solidFill>
                <a:latin typeface="Aptos"/>
              </a:defRPr>
            </a:pPr>
            <a:r>
              <a:t>EQUIVALENTE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Outra tecnologia em C# também pode ser usada se comprovar a mesma unidade transacional.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Seis evidências obrigatórias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E01 — Estrutura da solução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E02 — SQL Server / COMMIT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E03 — SQL Server / ROLLBACK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E04 — Oracle / COMMIT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E05 — Oracle / ROLLBACK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434840"/>
            <a:ext cx="507492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E06 — Código da transação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Imagem legível + breve explicação do que comprova.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Rubrica — 10,0 pontos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ROLLBACK e atomicidade têm o maior peso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Estrutura/scripts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0,75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444752"/>
            <a:ext cx="51435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SQL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38528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1,50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011680"/>
            <a:ext cx="102870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05456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1,50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578608"/>
            <a:ext cx="102870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72384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72384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1,50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145536"/>
            <a:ext cx="102870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39312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2,50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712463"/>
            <a:ext cx="1714500" cy="2011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Validações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06240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0,75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279392"/>
            <a:ext cx="51435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73168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Exceções/recursos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73168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0,75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846320"/>
            <a:ext cx="51435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40096"/>
            <a:ext cx="5943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  <a:latin typeface="Aptos"/>
              </a:defRPr>
            </a:pPr>
            <a:r>
              <a:t>Evidências/README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40096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C8102E"/>
                </a:solidFill>
                <a:latin typeface="Aptos"/>
              </a:defRPr>
            </a:pPr>
            <a:r>
              <a:t>0,75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5413248"/>
            <a:ext cx="514350" cy="201168"/>
          </a:xfrm>
          <a:prstGeom prst="rect">
            <a:avLst/>
          </a:prstGeom>
          <a:solidFill>
            <a:srgbClr val="34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Organização da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Projeto C#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scripts/ com S00 (XE local, opcional) + S01...S04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evidencias/ com E01...E06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README.md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sem bin/, obj/ e .vs/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91640"/>
            <a:ext cx="4846320" cy="1234440"/>
          </a:xfrm>
          <a:prstGeom prst="roundRect">
            <a:avLst/>
          </a:prstGeom>
          <a:solidFill>
            <a:srgbClr val="FCECE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C8102E"/>
                </a:solidFill>
                <a:latin typeface="Aptos"/>
              </a:defRPr>
            </a:pPr>
            <a:r>
              <a:t>NOME DO ZIP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CP5_NOME_RM.zip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46120"/>
            <a:ext cx="4846320" cy="14173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34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346799"/>
                </a:solidFill>
                <a:latin typeface="Aptos"/>
              </a:defRPr>
            </a:pPr>
            <a:r>
              <a:t>TRABALHO EM EQUIPE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Um integrante faz o upload; todos os integrantes e RMs devem estar no README.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983480"/>
            <a:ext cx="4846320" cy="822960"/>
          </a:xfrm>
          <a:prstGeom prst="roundRect">
            <a:avLst/>
          </a:prstGeom>
          <a:solidFill>
            <a:srgbClr val="FFF6DB"/>
          </a:solidFill>
          <a:ln w="19050">
            <a:solidFill>
              <a:srgbClr val="BE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BE7400"/>
                </a:solidFill>
                <a:latin typeface="Aptos"/>
              </a:defRPr>
            </a:pPr>
            <a:r>
              <a:t>SEGURANÇA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Nunca entregar senha institucional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8102E"/>
                </a:solidFill>
                <a:latin typeface="Aptos Display"/>
              </a:defRPr>
            </a:pPr>
            <a:r>
              <a:t>Antes de entregar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Compila e executa nos dois bancos?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COMMIT comprovado?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ROLLBACK comprovado depois de falha deliberada?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Seis evidências legíveis?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README completo?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Sem senhas reais?</a:t>
            </a:r>
          </a:p>
          <a:p>
            <a:pPr>
              <a:spcAft>
                <a:spcPts val="10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ZIP com nome correto?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5669280"/>
            <a:ext cx="6126480" cy="594360"/>
          </a:xfrm>
          <a:prstGeom prst="roundRect">
            <a:avLst/>
          </a:prstGeom>
          <a:solidFill>
            <a:srgbClr val="EAF5EE"/>
          </a:solidFill>
          <a:ln w="19050">
            <a:solidFill>
              <a:srgbClr val="2C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700" b="1">
                <a:solidFill>
                  <a:srgbClr val="2C7A46"/>
                </a:solidFill>
                <a:latin typeface="Aptos"/>
              </a:defRPr>
            </a:pPr>
            <a:r>
              <a:t>USE O D08</a:t>
            </a:r>
          </a:p>
          <a:p>
            <a:pPr>
              <a:spcBef>
                <a:spcPts val="500"/>
              </a:spcBef>
              <a:defRPr sz="1350">
                <a:solidFill>
                  <a:srgbClr val="202020"/>
                </a:solidFill>
                <a:latin typeface="Aptos"/>
              </a:defRPr>
            </a:pPr>
            <a:r>
              <a:t>Checklist pré-entrega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FIAP 2026.2  |  C# Software Development  |  3ESPH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Obrigado</a:t>
            </a:r>
          </a:p>
          <a:p>
            <a:pPr algn="ctr">
              <a:defRPr sz="2200">
                <a:solidFill>
                  <a:srgbClr val="C8102E"/>
                </a:solidFill>
                <a:latin typeface="Aptos"/>
              </a:defRPr>
            </a:pPr>
            <a:r>
              <a:t>CP5 — Transações locais em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2120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2D2D2"/>
                </a:solidFill>
                <a:latin typeface="Aptos"/>
              </a:defRPr>
            </a:pPr>
            <a:r>
              <a:t>FIAP 2026.2 • 3ESPH • Prof. Dr. Angel Antonio Gonzalez Martinez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